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ieli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"/>
            <a:ext cx="1737360" cy="731520"/>
          </a:xfrm>
          <a:prstGeom prst="rect">
            <a:avLst/>
          </a:prstGeom>
        </p:spPr>
      </p:pic>
      <p:pic>
        <p:nvPicPr>
          <p:cNvPr id="5" name="Picture 4" descr="nieli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8712" y="109728"/>
            <a:ext cx="173736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11680" y="164592"/>
            <a:ext cx="8138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NATIONAL INSTITUTE OF ELECTRONICS AND INFORMATION TECHNOLOGY, SRINAGAR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8640"/>
            <a:ext cx="8138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</a:rPr>
              <a:t>Ministry of Electronics &amp; Information Technology, Govt. of India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144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D4FF"/>
                </a:solidFill>
              </a:rPr>
              <a:t>IoT Device Fingerprinting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Anomaly Detection Framework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" y="283464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29260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CCCCC"/>
                </a:solidFill>
              </a:rPr>
              <a:t>Real-time IoT Security using Machine Learning &amp; SHAP Explainability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D700"/>
                </a:solidFill>
              </a:rPr>
              <a:t>Md Ghufran Alam  |  Roll No. NDU202400038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34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CCCCC"/>
                </a:solidFill>
              </a:rPr>
              <a:t>M.Tech Cyber Forensics  |  NIELIT Srinagar  |  2024–2026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194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CCCCC"/>
                </a:solidFill>
              </a:rPr>
              <a:t>Supervised by:  Dr. Syed Nisar Hussain Bukhari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5468112"/>
            <a:ext cx="7616952" cy="548640"/>
          </a:xfrm>
          <a:prstGeom prst="rect">
            <a:avLst/>
          </a:prstGeom>
          <a:solidFill>
            <a:srgbClr val="0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5486400"/>
            <a:ext cx="7616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LIVE:  https://mdghufran-iot-fingerprinting.hf.space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Problem Statement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91440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FFFFFF"/>
                </a:solidFill>
              </a:rPr>
              <a:t>  • 600,000+ IoT devices compromised by Mirai botnet (2016) — took down Twitter, Netflix, Reddit</a:t>
            </a:r>
          </a:p>
          <a:p>
            <a:r>
              <a:rPr sz="1700">
                <a:solidFill>
                  <a:srgbClr val="FFFFFF"/>
                </a:solidFill>
              </a:rPr>
              <a:t>  • Smart cameras, thermostats, bulbs cannot run antivirus software</a:t>
            </a:r>
          </a:p>
          <a:p>
            <a:r>
              <a:rPr sz="1700">
                <a:solidFill>
                  <a:srgbClr val="FFFFFF"/>
                </a:solidFill>
              </a:rPr>
              <a:t>  • Traditional firewalls don't know WHAT device they're protecting</a:t>
            </a:r>
          </a:p>
          <a:p>
            <a:r>
              <a:rPr sz="1700">
                <a:solidFill>
                  <a:srgbClr val="FFFFFF"/>
                </a:solidFill>
              </a:rPr>
              <a:t>  • No visibility into per-device normal behaviour baseline</a:t>
            </a:r>
          </a:p>
          <a:p>
            <a:r>
              <a:rPr sz="1700">
                <a:solidFill>
                  <a:srgbClr val="FFFFFF"/>
                </a:solidFill>
              </a:rPr>
              <a:t>  • Botnet traffic engineered to BLEND with normal IoT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914400"/>
            <a:ext cx="3383280" cy="5029200"/>
          </a:xfrm>
          <a:prstGeom prst="rect">
            <a:avLst/>
          </a:prstGeom>
          <a:solidFill>
            <a:srgbClr val="1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960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</a:rPr>
              <a:t>Real-World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46304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6B35"/>
                </a:solidFill>
              </a:rPr>
              <a:t>  ⚠ 620 Gbps DDoS peak</a:t>
            </a:r>
          </a:p>
          <a:p>
            <a:r>
              <a:rPr sz="1400">
                <a:solidFill>
                  <a:srgbClr val="FF6B35"/>
                </a:solidFill>
              </a:rPr>
              <a:t>  ⚠ 12,000+ domains hit</a:t>
            </a:r>
          </a:p>
          <a:p>
            <a:r>
              <a:rPr sz="1400">
                <a:solidFill>
                  <a:srgbClr val="FF6B35"/>
                </a:solidFill>
              </a:rPr>
              <a:t>  ⚠ Twitter offline</a:t>
            </a:r>
          </a:p>
          <a:p>
            <a:r>
              <a:rPr sz="1400">
                <a:solidFill>
                  <a:srgbClr val="FF6B35"/>
                </a:solidFill>
              </a:rPr>
              <a:t>  ⚠ Netflix offline</a:t>
            </a:r>
          </a:p>
          <a:p>
            <a:r>
              <a:rPr sz="1400">
                <a:solidFill>
                  <a:srgbClr val="FF6B35"/>
                </a:solidFill>
              </a:rPr>
              <a:t>  ⚠ Reddit offline</a:t>
            </a:r>
          </a:p>
          <a:p>
            <a:r>
              <a:rPr sz="1400">
                <a:solidFill>
                  <a:srgbClr val="FF6B35"/>
                </a:solidFill>
              </a:rPr>
              <a:t>  ⚠ GitHub offline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700"/>
                </a:solidFill>
              </a:rPr>
              <a:t>This Framework Answers: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16636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0FF88"/>
                </a:solidFill>
              </a:rPr>
              <a:t>  ✓ Which device is this on my network?  →  Device Fingerprinting</a:t>
            </a:r>
          </a:p>
          <a:p>
            <a:r>
              <a:rPr sz="1400">
                <a:solidFill>
                  <a:srgbClr val="00FF88"/>
                </a:solidFill>
              </a:rPr>
              <a:t>  ✓ Is it behaving normally right now?   →  Anomaly Detection</a:t>
            </a:r>
          </a:p>
          <a:p>
            <a:r>
              <a:rPr sz="1400">
                <a:solidFill>
                  <a:srgbClr val="00FF88"/>
                </a:solidFill>
              </a:rPr>
              <a:t>  ✓ Why did the model flag this?          →  SHAP Explainability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System Architecture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846320" y="914400"/>
            <a:ext cx="2468880" cy="731520"/>
          </a:xfrm>
          <a:prstGeom prst="rect">
            <a:avLst/>
          </a:prstGeom>
          <a:solidFill>
            <a:srgbClr val="0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0" y="9601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Network Traffic
(37 Features)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91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0D4FF"/>
                </a:solidFill>
              </a:rPr>
              <a:t>▼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2057400"/>
            <a:ext cx="2468880" cy="640080"/>
          </a:xfrm>
          <a:prstGeom prst="rect">
            <a:avLst/>
          </a:prstGeom>
          <a:solidFill>
            <a:srgbClr val="0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1031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RobustScaler
(Normalization)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7340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0D4FF"/>
                </a:solidFill>
              </a:rPr>
              <a:t>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08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</a:rPr>
              <a:t>┌─────────────────────────────────┐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91840"/>
            <a:ext cx="3200400" cy="731520"/>
          </a:xfrm>
          <a:prstGeom prst="rect">
            <a:avLst/>
          </a:prstGeom>
          <a:solidFill>
            <a:srgbClr val="005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Device Fingerprinting
Random Forest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291840"/>
            <a:ext cx="3200400" cy="731520"/>
          </a:xfrm>
          <a:prstGeom prst="rect">
            <a:avLst/>
          </a:prstGeom>
          <a:solidFill>
            <a:srgbClr val="502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3337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Anomaly Detection
IF + OC-SVM Ensemble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95360" y="3291840"/>
            <a:ext cx="3200400" cy="731520"/>
          </a:xfrm>
          <a:prstGeom prst="rect">
            <a:avLst/>
          </a:prstGeom>
          <a:solidFill>
            <a:srgbClr val="30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33375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SHAP Explainability
TreeExplainer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069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FF88"/>
                </a:solidFill>
              </a:rPr>
              <a:t>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069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6B35"/>
                </a:solidFill>
              </a:rPr>
              <a:t>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4069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D700"/>
                </a:solidFill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389120"/>
            <a:ext cx="3200400" cy="640080"/>
          </a:xfrm>
          <a:prstGeom prst="rect">
            <a:avLst/>
          </a:prstGeom>
          <a:solidFill>
            <a:srgbClr val="003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Device Label
+ Confidence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4389120"/>
            <a:ext cx="3200400" cy="640080"/>
          </a:xfrm>
          <a:prstGeom prst="rect">
            <a:avLst/>
          </a:prstGeom>
          <a:solidFill>
            <a:srgbClr val="351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Anomaly Score
+ Severity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95360" y="4389120"/>
            <a:ext cx="3200400" cy="640080"/>
          </a:xfrm>
          <a:prstGeom prst="rect">
            <a:avLst/>
          </a:prstGeom>
          <a:solidFill>
            <a:srgbClr val="200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44348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Top-10 Feature
Contributions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50749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D4FF"/>
                </a:solidFill>
              </a:rPr>
              <a:t>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394960"/>
            <a:ext cx="10515600" cy="640080"/>
          </a:xfrm>
          <a:prstGeom prst="rect">
            <a:avLst/>
          </a:prstGeom>
          <a:solidFill>
            <a:srgbClr val="00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440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Alert Manager  →  FastAPI REST API  +  Live Plotly.js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Dataset &amp; Feature Engineering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914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700"/>
                </a:solidFill>
              </a:rPr>
              <a:t>N-BaIoT Dataset  (UCI ML Repository #442)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  • 9 real physical IoT devices</a:t>
            </a:r>
          </a:p>
          <a:p>
            <a:r>
              <a:rPr sz="1500">
                <a:solidFill>
                  <a:srgbClr val="FFFFFF"/>
                </a:solidFill>
              </a:rPr>
              <a:t>  • Mirai botnet: ack, scan, syn, udp, udpplain attacks</a:t>
            </a:r>
          </a:p>
          <a:p>
            <a:r>
              <a:rPr sz="1500">
                <a:solidFill>
                  <a:srgbClr val="FFFFFF"/>
                </a:solidFill>
              </a:rPr>
              <a:t>  • BASHLITE/Gafgyt: combo, junk, scan, tcp, udp</a:t>
            </a:r>
          </a:p>
          <a:p>
            <a:r>
              <a:rPr sz="1500">
                <a:solidFill>
                  <a:srgbClr val="FFFFFF"/>
                </a:solidFill>
              </a:rPr>
              <a:t>  • Normal traffic baseline per device</a:t>
            </a:r>
          </a:p>
          <a:p>
            <a:r>
              <a:rPr sz="1500">
                <a:solidFill>
                  <a:srgbClr val="FFFFFF"/>
                </a:solidFill>
              </a:rPr>
              <a:t>  • 115 original features → mapped to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1148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D4FF"/>
                </a:solidFill>
              </a:rPr>
              <a:t>Device Mapping: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48056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</a:rPr>
              <a:t>  • Danmini Doorbell      →  smart_doorbell</a:t>
            </a:r>
          </a:p>
          <a:p>
            <a:r>
              <a:rPr sz="1300">
                <a:solidFill>
                  <a:srgbClr val="CCCCCC"/>
                </a:solidFill>
              </a:rPr>
              <a:t>  • Ecobee Thermostat     →  smart_thermostat</a:t>
            </a:r>
          </a:p>
          <a:p>
            <a:r>
              <a:rPr sz="1300">
                <a:solidFill>
                  <a:srgbClr val="CCCCCC"/>
                </a:solidFill>
              </a:rPr>
              <a:t>  • Security Camera       →  smart_camera</a:t>
            </a:r>
          </a:p>
          <a:p>
            <a:r>
              <a:rPr sz="1300">
                <a:solidFill>
                  <a:srgbClr val="CCCCCC"/>
                </a:solidFill>
              </a:rPr>
              <a:t>  • Baby Monitor          →  smart_speaker</a:t>
            </a:r>
          </a:p>
          <a:p>
            <a:r>
              <a:rPr sz="1300">
                <a:solidFill>
                  <a:srgbClr val="CCCCCC"/>
                </a:solidFill>
              </a:rPr>
              <a:t>  • Samsung Webcam        →  smart_tv</a:t>
            </a:r>
          </a:p>
          <a:p>
            <a:r>
              <a:rPr sz="1300">
                <a:solidFill>
                  <a:srgbClr val="CCCCCC"/>
                </a:solidFill>
              </a:rPr>
              <a:t>  • Philips Camera        →  smart_bulb</a:t>
            </a:r>
          </a:p>
          <a:p>
            <a:r>
              <a:rPr sz="1300">
                <a:solidFill>
                  <a:srgbClr val="CCCCCC"/>
                </a:solidFill>
              </a:rPr>
              <a:t>  • SimpleHome Camera     →  smart_plug</a:t>
            </a:r>
          </a:p>
          <a:p>
            <a:r>
              <a:rPr sz="1300">
                <a:solidFill>
                  <a:srgbClr val="CCCCCC"/>
                </a:solidFill>
              </a:rPr>
              <a:t>  • Ennio Doorbell        →  motion_sensor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914400"/>
            <a:ext cx="5486400" cy="5669280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9601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D4FF"/>
                </a:solidFill>
              </a:rPr>
              <a:t>37 Network Flow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4630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Temporal  (5)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463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flow_duration, mean_iat, std_iat, min_iat, max_iat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214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Volume  (4)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12140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packet_count, byte_count, packet_rate, byte_rate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7977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Packet Size  (4)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77977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mean_pkt_size, std_pkt_size, min_pkt_size, max_pkt_size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38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Protocol  (6)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4381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tcp_ratio, udp_ratio, syn_ratio, fin_ratio, rst_ratio, ack_ratio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9651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App Layer  (8)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096511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is_https, is_mqtt, is_coap, is_mdns, is_ntp, dns_queries, well_known_ports, is_encrypted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7548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Direction 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75487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upload_bytes, download_bytes, upload_download_ratio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413247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FF88"/>
                </a:solidFill>
              </a:rPr>
              <a:t>Destination  (7)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5413247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</a:rPr>
              <a:t>unique_dest_ports, unique_dest_ips, port_entropy, ip_entropy, well_known_ports_count, mean_dest_port, std_dest_port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Machine Learning Models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9144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FF88"/>
                </a:solidFill>
              </a:rPr>
              <a:t>MODULE 1 — Device Fingerprinting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5669280" cy="502920"/>
          </a:xfrm>
          <a:prstGeom prst="rect">
            <a:avLst/>
          </a:prstGeom>
          <a:solidFill>
            <a:srgbClr val="05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9961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Random Forest (Primary)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51790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100 trees, Gini, balanced, 100% acc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57400"/>
            <a:ext cx="5669280" cy="502920"/>
          </a:xfrm>
          <a:prstGeom prst="rect">
            <a:avLst/>
          </a:prstGeom>
          <a:solidFill>
            <a:srgbClr val="05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9397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Gradient Boosting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11226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100 trees, lr=0.1, max_depth=5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51760"/>
            <a:ext cx="5669280" cy="502920"/>
          </a:xfrm>
          <a:prstGeom prst="rect">
            <a:avLst/>
          </a:prstGeom>
          <a:solidFill>
            <a:srgbClr val="05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68833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SVM (RBF kernel)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0662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C=1.0, gamma=scale, 94.89% acc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46120"/>
            <a:ext cx="5669280" cy="502920"/>
          </a:xfrm>
          <a:prstGeom prst="rect">
            <a:avLst/>
          </a:prstGeom>
          <a:solidFill>
            <a:srgbClr val="05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28269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Voting Ensemble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3009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RF + GB + SVM soft vote, 100% acc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9319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D700"/>
                </a:solidFill>
              </a:rPr>
              <a:t>Training: SMOTE balancing + RobustScaler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2976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Confidence threshold: 60% (below = Unknown)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914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35"/>
                </a:solidFill>
              </a:rPr>
              <a:t>MODULE 2 — Anomaly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463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Per-device models — each device type gets its OWN detector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6479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Trained on NORMAL traffic ONLY (unsupervised)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06654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No labeled attack data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6829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700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6B35"/>
                </a:solidFill>
              </a:rPr>
              <a:t>Ensemble per device: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971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Isolation Forest  (contamination=0.1)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27355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One-Class SVM  (kernel=rbf, nu=0.1)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7530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  • Final score = weighted average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87705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788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6B35"/>
                </a:solidFill>
              </a:rPr>
              <a:t>Threshold: 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480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  &lt; 0.75  →  Normal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7823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FF88"/>
                </a:solidFill>
              </a:rPr>
              <a:t>  0.50–0.65  →  LOW alert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8406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D700"/>
                </a:solidFill>
              </a:rPr>
              <a:t>  0.65–0.80  →  MEDIUM alert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38581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6B35"/>
                </a:solidFill>
              </a:rPr>
              <a:t>  0.80–0.90  →  HIGH alert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8756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4444"/>
                </a:solidFill>
              </a:rPr>
              <a:t>  0.90+       →  CRITICAL alert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Results — Device Fingerprinting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solidFill>
            <a:srgbClr val="0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914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</a:rPr>
              <a:t>Test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914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</a:rPr>
              <a:t>ROC-AUC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914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</a:rPr>
              <a:t>F1 (Macro)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30000" cy="438912"/>
          </a:xfrm>
          <a:prstGeom prst="rect">
            <a:avLst/>
          </a:prstGeom>
          <a:solidFill>
            <a:srgbClr val="00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35608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Random Forest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4356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100.00%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4356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1.0000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1435608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1.00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874519"/>
            <a:ext cx="11430000" cy="438912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892808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Gradient Boosting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8928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100.00%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928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1.0000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1892808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331720"/>
            <a:ext cx="11430000" cy="438912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350008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Voting Ensemble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3500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100.00%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3500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1.0000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350008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1.00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88920"/>
            <a:ext cx="11430000" cy="438912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807208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SVM (RBF)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28072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94.89%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8072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0.9967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807208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0.95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3375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700"/>
                </a:solidFill>
              </a:rPr>
              <a:t>Per-Device Classification Report: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74903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smart_camera            Acc: 100%   Precision: 1.000   Recall: 1.000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0873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smart_thermostat        Acc: 100%   Precision: 1.000   Recall: 1.000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42569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smart_tv                Acc: 100%   Precision: 1.000   Recall: 1.000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6402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smart_bulb              Acc: 100%   Precision: 1.000   Recall: 1.000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10235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motion_sensor           Acc: 100%   Precision: 1.000   Recall: 1.000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4406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smart_plug              Acc: 100%   Precision: 1.000   Recall: 1.000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7790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smart_speaker           Acc: 100%   Precision: 1.000   Recall: 1.000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11733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smart_doorbell          Acc: 100%   Precision: 1.000   Recall: 1.000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0" y="3337560"/>
            <a:ext cx="3474720" cy="3383280"/>
          </a:xfrm>
          <a:prstGeom prst="rect">
            <a:avLst/>
          </a:prstGeom>
          <a:solidFill>
            <a:srgbClr val="002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3920" y="33832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FF88"/>
                </a:solidFill>
              </a:rPr>
              <a:t>Key Insight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384048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  • Pure network traffic — no agent, no device access</a:t>
            </a:r>
          </a:p>
          <a:p>
            <a:r>
              <a:rPr sz="1300">
                <a:solidFill>
                  <a:srgbClr val="FFFFFF"/>
                </a:solidFill>
              </a:rPr>
              <a:t>  • 37 features enough for 100% separation</a:t>
            </a:r>
          </a:p>
          <a:p>
            <a:r>
              <a:rPr sz="1300">
                <a:solidFill>
                  <a:srgbClr val="FFFFFF"/>
                </a:solidFill>
              </a:rPr>
              <a:t>  • Protocol ratios (MQTT, CoAP, HTTPS) are the most discriminative</a:t>
            </a:r>
          </a:p>
          <a:p>
            <a:r>
              <a:rPr sz="1300">
                <a:solidFill>
                  <a:srgbClr val="FFFFFF"/>
                </a:solidFill>
              </a:rPr>
              <a:t>  • Works across all 8 device categories without overlap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Results — Anomaly Detection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9144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D700"/>
                </a:solidFill>
              </a:rPr>
              <a:t>Per-Device Anomaly Detection Performance (AUC-ROC)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7772400" cy="475488"/>
          </a:xfrm>
          <a:prstGeom prst="rect">
            <a:avLst/>
          </a:prstGeom>
          <a:solidFill>
            <a:srgbClr val="08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smart_doorbell        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527048"/>
            <a:ext cx="4011015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4904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AUC: 0.8773   F1: 0.4811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65960"/>
            <a:ext cx="7772400" cy="475488"/>
          </a:xfrm>
          <a:prstGeom prst="rect">
            <a:avLst/>
          </a:prstGeom>
          <a:solidFill>
            <a:srgbClr val="08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3911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smart_thermostat     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075688"/>
            <a:ext cx="3927348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03911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AUC: 0.8590   F1: 0.3963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14600"/>
            <a:ext cx="7772400" cy="475488"/>
          </a:xfrm>
          <a:prstGeom prst="rect">
            <a:avLst/>
          </a:prstGeom>
          <a:solidFill>
            <a:srgbClr val="08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8775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motion_sensor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624328"/>
            <a:ext cx="3632911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5877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AUC: 0.7946   F1: 0.2206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063240"/>
            <a:ext cx="7772400" cy="475488"/>
          </a:xfrm>
          <a:prstGeom prst="rect">
            <a:avLst/>
          </a:prstGeom>
          <a:solidFill>
            <a:srgbClr val="08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1363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smart_tv             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3172968"/>
            <a:ext cx="353507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313639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AUC: 0.7732   F1: 0.2415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7772400" cy="475488"/>
          </a:xfrm>
          <a:prstGeom prst="rect">
            <a:avLst/>
          </a:prstGeom>
          <a:solidFill>
            <a:srgbClr val="08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68503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smart_plug            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721608"/>
            <a:ext cx="3356305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36850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AUC: 0.7341   F1: 0.2990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160520"/>
            <a:ext cx="7772400" cy="475488"/>
          </a:xfrm>
          <a:prstGeom prst="rect">
            <a:avLst/>
          </a:prstGeom>
          <a:solidFill>
            <a:srgbClr val="08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23367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smart_camera          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4270248"/>
            <a:ext cx="3257550" cy="25603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0" y="4233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AUC: 0.7125   F1: 0.2610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35"/>
                </a:solidFill>
              </a:rPr>
              <a:t>Why F1 is lower than AUC-ROC: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285232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CCCCCC"/>
                </a:solidFill>
              </a:rPr>
              <a:t>  • Mirai &amp; BASHLITE engineered to BLEND with normal IoT traffic</a:t>
            </a:r>
          </a:p>
          <a:p>
            <a:r>
              <a:rPr sz="1400">
                <a:solidFill>
                  <a:srgbClr val="CCCCCC"/>
                </a:solidFill>
              </a:rPr>
              <a:t>  • Unsupervised model never saw attack data during training</a:t>
            </a:r>
          </a:p>
          <a:p>
            <a:r>
              <a:rPr sz="1400">
                <a:solidFill>
                  <a:srgbClr val="CCCCCC"/>
                </a:solidFill>
              </a:rPr>
              <a:t>  • AUC-ROC is threshold-independent — correct metric for anomaly detection</a:t>
            </a:r>
          </a:p>
          <a:p>
            <a:r>
              <a:rPr sz="1400">
                <a:solidFill>
                  <a:srgbClr val="CCCCCC"/>
                </a:solidFill>
              </a:rPr>
              <a:t>  • F1 depends on threshold — can be tuned per deployment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914400"/>
            <a:ext cx="3657600" cy="5760720"/>
          </a:xfrm>
          <a:prstGeom prst="rect">
            <a:avLst/>
          </a:prstGeom>
          <a:solidFill>
            <a:srgbClr val="150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960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6B35"/>
                </a:solidFill>
              </a:rPr>
              <a:t>Live Demo Results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14630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  • Normal traffic → score 0.00</a:t>
            </a:r>
          </a:p>
          <a:p>
            <a:r>
              <a:rPr sz="1300">
                <a:solidFill>
                  <a:srgbClr val="FFFFFF"/>
                </a:solidFill>
              </a:rPr>
              <a:t>  • Data exfiltration → 0.81 HIGH</a:t>
            </a:r>
          </a:p>
          <a:p>
            <a:r>
              <a:rPr sz="1300">
                <a:solidFill>
                  <a:srgbClr val="FFFFFF"/>
                </a:solidFill>
              </a:rPr>
              <a:t>  • Port scan attack → 0.77 MED</a:t>
            </a:r>
          </a:p>
          <a:p>
            <a:r>
              <a:rPr sz="1300">
                <a:solidFill>
                  <a:srgbClr val="FFFFFF"/>
                </a:solidFill>
              </a:rPr>
              <a:t>  • Combined /analyze → 0.81 HIGH</a:t>
            </a:r>
          </a:p>
          <a:p>
            <a:r>
              <a:rPr sz="1300">
                <a:solidFill>
                  <a:srgbClr val="FFFFFF"/>
                </a:solidFill>
              </a:rPr>
              <a:t>  • </a:t>
            </a:r>
          </a:p>
          <a:p>
            <a:r>
              <a:rPr sz="1300">
                <a:solidFill>
                  <a:srgbClr val="FFFFFF"/>
                </a:solidFill>
              </a:rPr>
              <a:t>  • Zero false positives</a:t>
            </a:r>
          </a:p>
          <a:p>
            <a:r>
              <a:rPr sz="1300">
                <a:solidFill>
                  <a:srgbClr val="FFFFFF"/>
                </a:solidFill>
              </a:rPr>
              <a:t>  • on normal traffic</a:t>
            </a:r>
          </a:p>
          <a:p>
            <a:r>
              <a:rPr sz="1300">
                <a:solidFill>
                  <a:srgbClr val="FFFFFF"/>
                </a:solidFill>
              </a:rPr>
              <a:t>  • </a:t>
            </a:r>
          </a:p>
          <a:p>
            <a:r>
              <a:rPr sz="1300">
                <a:solidFill>
                  <a:srgbClr val="FFFFFF"/>
                </a:solidFill>
              </a:rPr>
              <a:t>  • 100% detection rate</a:t>
            </a:r>
          </a:p>
          <a:p>
            <a:r>
              <a:rPr sz="1300">
                <a:solidFill>
                  <a:srgbClr val="FFFFFF"/>
                </a:solidFill>
              </a:rPr>
              <a:t>  • on injected attacks</a:t>
            </a:r>
          </a:p>
          <a:p>
            <a:r>
              <a:rPr sz="1300">
                <a:solidFill>
                  <a:srgbClr val="FFFFFF"/>
                </a:solidFill>
              </a:rPr>
              <a:t>  • </a:t>
            </a:r>
          </a:p>
          <a:p>
            <a:r>
              <a:rPr sz="1300">
                <a:solidFill>
                  <a:srgbClr val="FFFFFF"/>
                </a:solidFill>
              </a:rPr>
              <a:t>  • Threshold 0.75</a:t>
            </a:r>
          </a:p>
          <a:p>
            <a:r>
              <a:rPr sz="1300">
                <a:solidFill>
                  <a:srgbClr val="FFFFFF"/>
                </a:solidFill>
              </a:rPr>
              <a:t>  • cleanly separates</a:t>
            </a:r>
          </a:p>
          <a:p>
            <a:r>
              <a:rPr sz="1300">
                <a:solidFill>
                  <a:srgbClr val="FFFFFF"/>
                </a:solidFill>
              </a:rPr>
              <a:t>  • normal vs attack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SHAP Explainability (XAI)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9601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D700"/>
                </a:solidFill>
              </a:rPr>
              <a:t>Why does explainability matter in security?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  • A black-box alert ('anomaly detected') is not actionable for a SOC analyst</a:t>
            </a:r>
          </a:p>
          <a:p>
            <a:r>
              <a:rPr sz="1500">
                <a:solidFill>
                  <a:srgbClr val="FFFFFF"/>
                </a:solidFill>
              </a:rPr>
              <a:t>  • SHAP shows WHICH features triggered the alert — analyst can verify manually</a:t>
            </a:r>
          </a:p>
          <a:p>
            <a:r>
              <a:rPr sz="1500">
                <a:solidFill>
                  <a:srgbClr val="FFFFFF"/>
                </a:solidFill>
              </a:rPr>
              <a:t>  • Regulatory compliance (GDPR Article 22) requires explainable automated decisions</a:t>
            </a:r>
          </a:p>
          <a:p>
            <a:r>
              <a:rPr sz="1500">
                <a:solidFill>
                  <a:srgbClr val="FFFFFF"/>
                </a:solidFill>
              </a:rPr>
              <a:t>  • Reduces false positive investigation time from minutes to seconds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4320" y="3337560"/>
            <a:ext cx="11612880" cy="0"/>
          </a:xfrm>
          <a:prstGeom prst="line">
            <a:avLst/>
          </a:prstGeom>
          <a:ln w="12700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" y="34290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FF"/>
                </a:solidFill>
              </a:rPr>
              <a:t>Top-10 SHAP Features — Unknown Device (46% confidence)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8620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tcp_ratio                  Red  (Away)       High TCP usage inconsistent with device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169663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udp_ratio                  Red  (Away)       UDP ratio too high for predicted 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453127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ack_ratio                  Red  (Away)       ACK pattern deviates from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736591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is_https                   Red  (Away)       HTTPS presence reduces confidence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020055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mean_dest_port             Red  (Away)       Port profile does not match any device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03519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FF88"/>
                </a:solidFill>
              </a:rPr>
              <a:t>syn_ratio                  Green (Toward)    SYN ratio partially supports 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586983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FF88"/>
                </a:solidFill>
              </a:rPr>
              <a:t>is_mqtt                    Green (Toward)    MQTT traffic partially consistent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870447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is_encrypted               Red  (Away)       Encryption profile deviates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153911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5555"/>
                </a:solidFill>
              </a:rPr>
              <a:t>well_known_port_ratio      Red  (Away)       Port ratio outside expected 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37375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FF88"/>
                </a:solidFill>
              </a:rPr>
              <a:t>max_pkt_size               Green (Toward)    Packet size aligns with device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4114800" cy="2926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863840" y="3931920"/>
            <a:ext cx="4114800" cy="2560320"/>
          </a:xfrm>
          <a:prstGeom prst="rect">
            <a:avLst/>
          </a:prstGeom>
          <a:solidFill>
            <a:srgbClr val="050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79" y="3977639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FF"/>
                </a:solidFill>
              </a:rPr>
              <a:t>SHAP 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4370832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  • TreeExplainer (faster than KernelExplainer)</a:t>
            </a:r>
          </a:p>
          <a:p>
            <a:r>
              <a:rPr sz="1200">
                <a:solidFill>
                  <a:srgbClr val="CCCCCC"/>
                </a:solidFill>
              </a:rPr>
              <a:t>  • Runs on Random Forest model</a:t>
            </a:r>
          </a:p>
          <a:p>
            <a:r>
              <a:rPr sz="1200">
                <a:solidFill>
                  <a:srgbClr val="CCCCCC"/>
                </a:solidFill>
              </a:rPr>
              <a:t>  • POST /explain endpoint</a:t>
            </a:r>
          </a:p>
          <a:p>
            <a:r>
              <a:rPr sz="1200">
                <a:solidFill>
                  <a:srgbClr val="CCCCCC"/>
                </a:solidFill>
              </a:rPr>
              <a:t>  • Live panel in monitoring dashboard</a:t>
            </a:r>
          </a:p>
          <a:p>
            <a:r>
              <a:rPr sz="1200">
                <a:solidFill>
                  <a:srgbClr val="CCCCCC"/>
                </a:solidFill>
              </a:rPr>
              <a:t>  • Updates every prediction</a:t>
            </a:r>
          </a:p>
          <a:p>
            <a:r>
              <a:rPr sz="1200">
                <a:solidFill>
                  <a:srgbClr val="CCCCCC"/>
                </a:solidFill>
              </a:rPr>
              <a:t>  • Sub-30ms response time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Live Deployment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914400"/>
            <a:ext cx="5029200" cy="1097280"/>
          </a:xfrm>
          <a:prstGeom prst="rect">
            <a:avLst/>
          </a:prstGeom>
          <a:solidFill>
            <a:srgbClr val="0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Platform: HuggingFace Spaces (Docker)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SDK: Docker  |  Visibility: Public  |  Free 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0" y="914400"/>
            <a:ext cx="5943600" cy="1097280"/>
          </a:xfrm>
          <a:prstGeom prst="rect">
            <a:avLst/>
          </a:prstGeom>
          <a:solidFill>
            <a:srgbClr val="0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9601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Single Port Deployment (7860)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3716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</a:rPr>
              <a:t>FastAPI serves API + Dashboard on single port 7860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94560"/>
            <a:ext cx="11430000" cy="475488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5856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Live Dashboard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2585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FF88"/>
                </a:solidFill>
              </a:rPr>
              <a:t>https://mdghufran-iot-fingerprinting.hf.space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43200"/>
            <a:ext cx="11430000" cy="475488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API Docs        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80720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</a:rPr>
              <a:t>https://mdghufran-iot-fingerprinting.hf.space/docs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91840"/>
            <a:ext cx="11430000" cy="475488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3558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Status Page 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35584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</a:rPr>
              <a:t>https://mdghufran-iot-fingerprinting.hf.space/status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840480"/>
            <a:ext cx="11430000" cy="475488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044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HuggingFace    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90448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D700"/>
                </a:solidFill>
              </a:rPr>
              <a:t>https://huggingface.co/spaces/mdghufran/iot-fingerprinting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389120"/>
            <a:ext cx="11430000" cy="475488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4531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GitHub         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45312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https://github.com/Ghufran2002/iot-fingerprinting-framework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D4FF"/>
                </a:solidFill>
              </a:rPr>
              <a:t>API Endpoints: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413248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CCCCC"/>
                </a:solidFill>
              </a:rPr>
              <a:t>  GET  /health    GET  /devices    GET  /metrics</a:t>
            </a:r>
          </a:p>
          <a:p>
            <a:r>
              <a:rPr sz="1300">
                <a:solidFill>
                  <a:srgbClr val="CCCCCC"/>
                </a:solidFill>
              </a:rPr>
              <a:t>  POST /fingerprint    POST /anomaly/score    POST /analyze    POST /explain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5029200"/>
            <a:ext cx="3200400" cy="1554480"/>
          </a:xfrm>
          <a:prstGeom prst="rect">
            <a:avLst/>
          </a:prstGeom>
          <a:solidFill>
            <a:srgbClr val="00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88"/>
                </a:solidFill>
              </a:rPr>
              <a:t>Performance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5468112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  • API latency: ~40 ms</a:t>
            </a:r>
          </a:p>
          <a:p>
            <a:r>
              <a:rPr sz="1300">
                <a:solidFill>
                  <a:srgbClr val="FFFFFF"/>
                </a:solidFill>
              </a:rPr>
              <a:t>  • Status: Live &amp; Healthy</a:t>
            </a:r>
          </a:p>
          <a:p>
            <a:r>
              <a:rPr sz="1300">
                <a:solidFill>
                  <a:srgbClr val="FFFFFF"/>
                </a:solidFill>
              </a:rPr>
              <a:t>  • Models: RF + IF + OC-SVM</a:t>
            </a:r>
          </a:p>
          <a:p>
            <a:r>
              <a:rPr sz="1300">
                <a:solidFill>
                  <a:srgbClr val="FFFFFF"/>
                </a:solidFill>
              </a:rPr>
              <a:t>  • Accuracy: 100% (8 devices)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Live Demo — Device Fingerprinting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9144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</a:rPr>
              <a:t>POST /fingerprint  — 8 devices identified from network traffic alone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481328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smart_camera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508760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481328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481328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HTTPS, 400 pkt/s, large packets, port 443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11095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75103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1975103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smart_thermostat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002536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975103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975103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MQTT, 2 pkt/s, 80-byte packets, port 1883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404872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468879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2468879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smart_tv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496312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2468879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468879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Streaming, 695 MB download, 18 IPs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98648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962656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192.168.1.77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2962656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smart_bulb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2990088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296265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2962656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CoAP, 4 packets, 120 bytes, port 5683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392424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45643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3456432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motion_sensor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3483864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3456432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3456432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MQTT+CoAP, 3 packets, event-driven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886200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95020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3950208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smart_plug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3977639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0" y="3950208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950208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MQTT, 6 packets, port 8883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379976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443984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443984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smart_speaker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0" y="4471416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443984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4443984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HTTPS, voice streaming, 5 cloud IPs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873752"/>
            <a:ext cx="11430000" cy="438912"/>
          </a:xfrm>
          <a:prstGeom prst="rect">
            <a:avLst/>
          </a:prstGeom>
          <a:solidFill>
            <a:srgbClr val="05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93776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192.168.1.88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3120" y="4937760"/>
            <a:ext cx="2286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smart_doorbell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0" y="4965192"/>
            <a:ext cx="822960" cy="256032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89120" y="49377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D700"/>
                </a:solidFill>
              </a:rPr>
              <a:t>96%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0" y="4937760"/>
            <a:ext cx="6400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Camera+audio burst, 2.5 MB upload, HTTPS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897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D700"/>
                </a:solidFill>
              </a:rPr>
              <a:t>No hardware access. No credentials. No agent installed on any device.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Live Demo — Anomaly Detection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CCCC"/>
                </a:solidFill>
              </a:rPr>
              <a:t>POST /anomaly/score  +  POST /analyze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914400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TEST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17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Normal Camera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417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FF88"/>
                </a:solidFill>
              </a:rPr>
              <a:t>Score: 0.0000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1444752"/>
            <a:ext cx="1371600" cy="274320"/>
          </a:xfrm>
          <a:prstGeom prst="rect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417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FF88"/>
                </a:solidFill>
              </a:rPr>
              <a:t>NORMAL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74519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400 pkt/s, 28MB upload, ratio=2 → System: NORMAL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11430000" cy="914400"/>
          </a:xfrm>
          <a:prstGeom prst="rect">
            <a:avLst/>
          </a:prstGeom>
          <a:solidFill>
            <a:srgbClr val="401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231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TEST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423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Data Exfiltration (Mirai)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23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B35"/>
                </a:solidFill>
              </a:rPr>
              <a:t>Score: 0.8060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450592"/>
            <a:ext cx="1371600" cy="274320"/>
          </a:xfrm>
          <a:prstGeom prst="rect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423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6B35"/>
                </a:solidFill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880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Camera uploading 1.68 GB, ratio=120 (normally 2) → ALERT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83280"/>
            <a:ext cx="11430000" cy="914400"/>
          </a:xfrm>
          <a:prstGeom prst="rect">
            <a:avLst/>
          </a:prstGeom>
          <a:solidFill>
            <a:srgbClr val="302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290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TEST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Port Scan / Reconnaissance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4290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Score: 0.7745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456432"/>
            <a:ext cx="1371600" cy="274320"/>
          </a:xfrm>
          <a:prstGeom prst="rect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3429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700"/>
                </a:solidFill>
              </a:rPr>
              <a:t>MEDIUM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886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Thermostat scanning 1200 ports × 250 IPs, entropy=9.5 → ALERT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89120"/>
            <a:ext cx="11430000" cy="914400"/>
          </a:xfrm>
          <a:prstGeom prst="rect">
            <a:avLst/>
          </a:prstGeom>
          <a:solidFill>
            <a:srgbClr val="401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434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TEST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434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/analyze Combined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434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B35"/>
                </a:solidFill>
              </a:rPr>
              <a:t>Score: 0.8060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462272"/>
            <a:ext cx="1371600" cy="274320"/>
          </a:xfrm>
          <a:prstGeom prst="rect">
            <a:avLst/>
          </a:prstGeom>
          <a:solidFill>
            <a:srgbClr val="1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6B35"/>
                </a:solidFill>
              </a:rPr>
              <a:t>HIGH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920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Auto-detected camera → exfiltration. One API call does both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394960"/>
            <a:ext cx="11430000" cy="502920"/>
          </a:xfrm>
          <a:prstGeom prst="rect">
            <a:avLst/>
          </a:prstGeom>
          <a:solidFill>
            <a:srgbClr val="002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4223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FF88"/>
                </a:solidFill>
              </a:rPr>
              <a:t>Zero false positives on normal traffic.  All 3 attack types detected with correct severity.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FF"/>
                </a:solidFill>
              </a:rPr>
              <a:t>Conclusion &amp; Contributions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4320" y="82296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960120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Fingerprinting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02412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100% accuracy on 8 IoT device types using only network traffic — no device access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90472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Anomaly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55448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Per-device unsupervised ensemble (IF + OC-SVM) detects Mirai/BASHLITE with AUC up to 0.877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20824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8483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Explainability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084831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SHAP TreeExplainer provides real-time top-10 feature contributions for every prediction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51176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1518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Production Deploy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615184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Live on HuggingFace Spaces — publicly accessible, sub-40ms latency, 2.1h+ uptime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81528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4553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REST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145536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 FastAPI endpoints including combined /analyze, /explain, /alerts/recent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11880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7588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3675888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Live Plotly.js monitoring dashboard with anomaly timeline, severity chart, real-time alert feed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142232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Dataset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4206240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Trained on real N-BaIoT dataset (UCI #442) with real Mirai &amp; BASHLITE attack traffic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672584"/>
            <a:ext cx="11430000" cy="475488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7365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FF88"/>
                </a:solidFill>
              </a:rPr>
              <a:t>✓  Open 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736592"/>
            <a:ext cx="8686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Full code available on GitHub — reproducible, extensible, MIT licensed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349240"/>
            <a:ext cx="11430000" cy="685800"/>
          </a:xfrm>
          <a:prstGeom prst="rect">
            <a:avLst/>
          </a:prstGeom>
          <a:solidFill>
            <a:srgbClr val="00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376672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FF88"/>
                </a:solidFill>
              </a:rPr>
              <a:t>LIVE AT:  https://mdghufran-iot-fingerprinting.hf.space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00D4FF"/>
                </a:solidFill>
              </a:rPr>
              <a:t>Thank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" y="2743200"/>
            <a:ext cx="11612880" cy="0"/>
          </a:xfrm>
          <a:prstGeom prst="line">
            <a:avLst/>
          </a:prstGeom>
          <a:ln w="381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28803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</a:rPr>
              <a:t>Md Ghufran Alam  |  NDU202400038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</a:rPr>
              <a:t>M.Tech Cyber Forensics  |  NIELIT Srinagar  |  2024–2026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5029200"/>
            <a:ext cx="9418320" cy="1371600"/>
          </a:xfrm>
          <a:prstGeom prst="rect">
            <a:avLst/>
          </a:prstGeom>
          <a:solidFill>
            <a:srgbClr val="0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5074920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FF88"/>
                </a:solidFill>
              </a:rPr>
              <a:t>Live System:  https://mdghufran-iot-fingerprinting.hf.space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532120"/>
            <a:ext cx="9235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CCCC"/>
                </a:solidFill>
              </a:rPr>
              <a:t>GitHub:  https://github.com/Ghufran2002/iot-fingerprinting-framework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